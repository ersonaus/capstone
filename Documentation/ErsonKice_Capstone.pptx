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88825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B4CF351-73D5-4E0D-9384-4395210393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57936C9-DFF3-49DF-BF99-C293B0A402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8F8364C-E13B-4F3C-8AF5-83CE28F65C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B346A0F-3D83-458F-A67C-74B4AE97BB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884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84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3B6DFFA-F0B9-4908-846F-C052B11D6C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EBEAB96-A929-45A3-B2AC-B9CDBEC4FC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4C26C5E-F0FF-42CA-BD4B-3AFB5258A2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AFD89D9-49DB-4C1D-B24C-FC9615E299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000FA0A-847D-4ED3-A08C-FE8EA7F119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809B566-8737-4A2F-8E58-006E870695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6B389BC-E286-4134-AF33-1FEC2D3599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87800" cy="1087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6748200"/>
            <a:ext cx="12187800" cy="1087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109800"/>
            <a:ext cx="108720" cy="66373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360" tIns="45000" rIns="54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12079080" y="109800"/>
            <a:ext cx="108720" cy="66373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360" tIns="45000" rIns="54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5175360" y="1097280"/>
            <a:ext cx="1827720" cy="1644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5394960" y="1143000"/>
            <a:ext cx="13705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🔒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1371600" y="2926080"/>
            <a:ext cx="94172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Privacy-First Travel Platform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1371600" y="3886200"/>
            <a:ext cx="9417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Affordable Adventures. Your Data Stays Yours.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4114800" y="4572000"/>
            <a:ext cx="3958200" cy="35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1371600" y="4754880"/>
            <a:ext cx="9417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Erson Kice   |   Capstone Project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1371600" y="5257800"/>
            <a:ext cx="9417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890A8"/>
                </a:solidFill>
                <a:effectLst/>
                <a:uFillTx/>
                <a:latin typeface="Calibri"/>
              </a:rPr>
              <a:t>GitHub: github.com/ErsonAus/Capstone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2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640080" y="228600"/>
            <a:ext cx="10514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Problem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640080" y="86868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Why does this project exist?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6"/>
          <p:cNvSpPr/>
          <p:nvPr/>
        </p:nvSpPr>
        <p:spPr>
          <a:xfrm>
            <a:off x="640080" y="1234440"/>
            <a:ext cx="5302440" cy="502812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7"/>
          <p:cNvSpPr/>
          <p:nvPr/>
        </p:nvSpPr>
        <p:spPr>
          <a:xfrm>
            <a:off x="6245280" y="1234440"/>
            <a:ext cx="5302440" cy="502812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868680" y="1371600"/>
            <a:ext cx="4845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Current State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868680" y="1874520"/>
            <a:ext cx="4845240" cy="41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Booking.com, MakeMyTrip &amp; others harvest user data aggressively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Data used for targeted ads &amp; personalised (inflated) pricing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Cybernews confirmed apps collect far more data than necessary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Users have little transparency or control over their information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Travel costs continue to rise — affordability is a growing issue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73880" y="1371600"/>
            <a:ext cx="4845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Desired State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6473880" y="1874520"/>
            <a:ext cx="4845240" cy="41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Full user control over personal data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Transparent, plain-language privacy policies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Competitive pricing with no data exploitation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Accessible to all ages and technical abilities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No equivalent platform currently exists in the market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2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3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640080" y="228600"/>
            <a:ext cx="10514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Industry &amp; Domain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640080" y="86868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Travel Technology × Data Privacy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6"/>
          <p:cNvSpPr/>
          <p:nvPr/>
        </p:nvSpPr>
        <p:spPr>
          <a:xfrm>
            <a:off x="640080" y="1280160"/>
            <a:ext cx="5302440" cy="228492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7"/>
          <p:cNvSpPr/>
          <p:nvPr/>
        </p:nvSpPr>
        <p:spPr>
          <a:xfrm>
            <a:off x="640080" y="1280160"/>
            <a:ext cx="5302440" cy="44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8"/>
          <p:cNvSpPr/>
          <p:nvPr/>
        </p:nvSpPr>
        <p:spPr>
          <a:xfrm>
            <a:off x="822960" y="1389960"/>
            <a:ext cx="4936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Industry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9"/>
          <p:cNvSpPr/>
          <p:nvPr/>
        </p:nvSpPr>
        <p:spPr>
          <a:xfrm>
            <a:off x="822960" y="1828800"/>
            <a:ext cx="493668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Online travel booking platforms at the intersection of travel and data privacy.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10"/>
          <p:cNvSpPr/>
          <p:nvPr/>
        </p:nvSpPr>
        <p:spPr>
          <a:xfrm>
            <a:off x="6245280" y="1280160"/>
            <a:ext cx="5302440" cy="228492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11"/>
          <p:cNvSpPr/>
          <p:nvPr/>
        </p:nvSpPr>
        <p:spPr>
          <a:xfrm>
            <a:off x="6245280" y="1280160"/>
            <a:ext cx="5302440" cy="44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2"/>
          <p:cNvSpPr/>
          <p:nvPr/>
        </p:nvSpPr>
        <p:spPr>
          <a:xfrm>
            <a:off x="6428160" y="1389960"/>
            <a:ext cx="4936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Value Chain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3"/>
          <p:cNvSpPr/>
          <p:nvPr/>
        </p:nvSpPr>
        <p:spPr>
          <a:xfrm>
            <a:off x="6428160" y="1828800"/>
            <a:ext cx="493668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Revenue via commissions, ads &amp; subscriptions — this platform uses a privacy-safe subscription model.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14"/>
          <p:cNvSpPr/>
          <p:nvPr/>
        </p:nvSpPr>
        <p:spPr>
          <a:xfrm>
            <a:off x="640080" y="3794760"/>
            <a:ext cx="5302440" cy="228492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15"/>
          <p:cNvSpPr/>
          <p:nvPr/>
        </p:nvSpPr>
        <p:spPr>
          <a:xfrm>
            <a:off x="640080" y="3794760"/>
            <a:ext cx="5302440" cy="44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16"/>
          <p:cNvSpPr/>
          <p:nvPr/>
        </p:nvSpPr>
        <p:spPr>
          <a:xfrm>
            <a:off x="822960" y="3904560"/>
            <a:ext cx="4936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Key Differentiator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7"/>
          <p:cNvSpPr/>
          <p:nvPr/>
        </p:nvSpPr>
        <p:spPr>
          <a:xfrm>
            <a:off x="822960" y="4343400"/>
            <a:ext cx="493668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Trust. Users return because their data is safe, not because of lock-in or dark patterns.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18"/>
          <p:cNvSpPr/>
          <p:nvPr/>
        </p:nvSpPr>
        <p:spPr>
          <a:xfrm>
            <a:off x="6245280" y="3794760"/>
            <a:ext cx="5302440" cy="228492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19"/>
          <p:cNvSpPr/>
          <p:nvPr/>
        </p:nvSpPr>
        <p:spPr>
          <a:xfrm>
            <a:off x="6245280" y="3794760"/>
            <a:ext cx="5302440" cy="44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0"/>
          <p:cNvSpPr/>
          <p:nvPr/>
        </p:nvSpPr>
        <p:spPr>
          <a:xfrm>
            <a:off x="6428160" y="3904560"/>
            <a:ext cx="4936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Wider Relevance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1"/>
          <p:cNvSpPr/>
          <p:nvPr/>
        </p:nvSpPr>
        <p:spPr>
          <a:xfrm>
            <a:off x="6428160" y="4343400"/>
            <a:ext cx="493668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Privacy-first model applies to accommodation, transport, finance &amp; digital inclusion initiatives.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2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3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640080" y="228600"/>
            <a:ext cx="10514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Stakeholders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640080" y="86868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Who is this built for?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6"/>
          <p:cNvSpPr/>
          <p:nvPr/>
        </p:nvSpPr>
        <p:spPr>
          <a:xfrm>
            <a:off x="640080" y="1234440"/>
            <a:ext cx="7131240" cy="255924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7"/>
          <p:cNvSpPr/>
          <p:nvPr/>
        </p:nvSpPr>
        <p:spPr>
          <a:xfrm>
            <a:off x="640080" y="1234440"/>
            <a:ext cx="7131240" cy="53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8"/>
          <p:cNvSpPr/>
          <p:nvPr/>
        </p:nvSpPr>
        <p:spPr>
          <a:xfrm>
            <a:off x="868680" y="1353240"/>
            <a:ext cx="6674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Primary Users — Travellers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9"/>
          <p:cNvSpPr/>
          <p:nvPr/>
        </p:nvSpPr>
        <p:spPr>
          <a:xfrm>
            <a:off x="868680" y="1828800"/>
            <a:ext cx="6674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Internet-enabled travellers of all ages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Young independent travellers seeking affordable options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Older users booking family holidays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Anyone wanting privacy without sacrificing ease-of-use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0"/>
          <p:cNvSpPr/>
          <p:nvPr/>
        </p:nvSpPr>
        <p:spPr>
          <a:xfrm>
            <a:off x="640080" y="3977640"/>
            <a:ext cx="7131240" cy="255924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11"/>
          <p:cNvSpPr/>
          <p:nvPr/>
        </p:nvSpPr>
        <p:spPr>
          <a:xfrm>
            <a:off x="640080" y="3977640"/>
            <a:ext cx="7131240" cy="53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2"/>
          <p:cNvSpPr/>
          <p:nvPr/>
        </p:nvSpPr>
        <p:spPr>
          <a:xfrm>
            <a:off x="868680" y="4096440"/>
            <a:ext cx="6674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Secondary Stakeholders — Service Providers &amp; Advocates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3"/>
          <p:cNvSpPr/>
          <p:nvPr/>
        </p:nvSpPr>
        <p:spPr>
          <a:xfrm>
            <a:off x="868680" y="4572000"/>
            <a:ext cx="6674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Airlines, hotels, and car hire companies listed on the platform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Privacy advocates who may promote or endorse the service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Benefit: access to a growing audience of privacy-conscious consumers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14"/>
          <p:cNvSpPr/>
          <p:nvPr/>
        </p:nvSpPr>
        <p:spPr>
          <a:xfrm>
            <a:off x="8046720" y="1234440"/>
            <a:ext cx="3473640" cy="5302440"/>
          </a:xfrm>
          <a:prstGeom prst="rect">
            <a:avLst/>
          </a:prstGeom>
          <a:solidFill>
            <a:srgbClr val="02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15"/>
          <p:cNvSpPr/>
          <p:nvPr/>
        </p:nvSpPr>
        <p:spPr>
          <a:xfrm>
            <a:off x="8046720" y="1234440"/>
            <a:ext cx="3473640" cy="53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6"/>
          <p:cNvSpPr/>
          <p:nvPr/>
        </p:nvSpPr>
        <p:spPr>
          <a:xfrm>
            <a:off x="8229600" y="1353240"/>
            <a:ext cx="3107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Core Promise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7"/>
          <p:cNvSpPr/>
          <p:nvPr/>
        </p:nvSpPr>
        <p:spPr>
          <a:xfrm>
            <a:off x="8229600" y="1920240"/>
            <a:ext cx="310788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"Great prices,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easy to use,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 your data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stays yours."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18"/>
          <p:cNvSpPr/>
          <p:nvPr/>
        </p:nvSpPr>
        <p:spPr>
          <a:xfrm>
            <a:off x="731520" y="3859560"/>
            <a:ext cx="10605960" cy="2628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9"/>
          <p:cNvSpPr/>
          <p:nvPr/>
        </p:nvSpPr>
        <p:spPr>
          <a:xfrm>
            <a:off x="8229600" y="4434840"/>
            <a:ext cx="310788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Straightforward booking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No data sold without consent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All ages &amp; abilities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45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48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49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61"/>
          <p:cNvSpPr/>
          <p:nvPr/>
        </p:nvSpPr>
        <p:spPr>
          <a:xfrm>
            <a:off x="640080" y="228600"/>
            <a:ext cx="1051452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 Structure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62"/>
          <p:cNvSpPr/>
          <p:nvPr/>
        </p:nvSpPr>
        <p:spPr>
          <a:xfrm>
            <a:off x="640080" y="868680"/>
            <a:ext cx="105145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50"/>
          <p:cNvSpPr/>
          <p:nvPr/>
        </p:nvSpPr>
        <p:spPr>
          <a:xfrm>
            <a:off x="640080" y="1234440"/>
            <a:ext cx="5302440" cy="502812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53"/>
          <p:cNvSpPr/>
          <p:nvPr/>
        </p:nvSpPr>
        <p:spPr>
          <a:xfrm>
            <a:off x="6245280" y="1234440"/>
            <a:ext cx="5302440" cy="502812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63"/>
          <p:cNvSpPr/>
          <p:nvPr/>
        </p:nvSpPr>
        <p:spPr>
          <a:xfrm>
            <a:off x="868680" y="1371600"/>
            <a:ext cx="4845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Current State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64"/>
          <p:cNvSpPr/>
          <p:nvPr/>
        </p:nvSpPr>
        <p:spPr>
          <a:xfrm>
            <a:off x="868680" y="1874520"/>
            <a:ext cx="4845240" cy="24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Booking.com, MakeMyTrip &amp; others harvest user data aggressively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Data used for targeted ads &amp; personalised (inflated) pricing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Cybernews confirmed apps collect far more data than necessary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Users have little transparency or control over their information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Travel costs continue to rise — affordability is a growing issue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65"/>
          <p:cNvSpPr/>
          <p:nvPr/>
        </p:nvSpPr>
        <p:spPr>
          <a:xfrm>
            <a:off x="6473880" y="1371600"/>
            <a:ext cx="4845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Desired State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66"/>
          <p:cNvSpPr/>
          <p:nvPr/>
        </p:nvSpPr>
        <p:spPr>
          <a:xfrm>
            <a:off x="6473880" y="1874520"/>
            <a:ext cx="4845240" cy="13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Full user control over personal data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Transparent, plain-language privacy policies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Competitive pricing with no data exploitation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Accessible to all ages and technical abilities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No equivalent platform currently exists in the market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"/>
          <p:cNvPicPr/>
          <p:nvPr/>
        </p:nvPicPr>
        <p:blipFill>
          <a:blip r:embed="rId1"/>
          <a:stretch/>
        </p:blipFill>
        <p:spPr>
          <a:xfrm>
            <a:off x="640080" y="1143000"/>
            <a:ext cx="5303520" cy="50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"/>
          <p:cNvPicPr/>
          <p:nvPr/>
        </p:nvPicPr>
        <p:blipFill>
          <a:blip r:embed="rId2"/>
          <a:stretch/>
        </p:blipFill>
        <p:spPr>
          <a:xfrm>
            <a:off x="6172200" y="1143000"/>
            <a:ext cx="5933880" cy="511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2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3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640080" y="228600"/>
            <a:ext cx="10514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User Stories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5"/>
          <p:cNvSpPr/>
          <p:nvPr/>
        </p:nvSpPr>
        <p:spPr>
          <a:xfrm>
            <a:off x="640080" y="86868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What users need to do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6"/>
          <p:cNvSpPr/>
          <p:nvPr/>
        </p:nvSpPr>
        <p:spPr>
          <a:xfrm>
            <a:off x="640080" y="1234440"/>
            <a:ext cx="547560" cy="521100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7"/>
          <p:cNvSpPr/>
          <p:nvPr/>
        </p:nvSpPr>
        <p:spPr>
          <a:xfrm>
            <a:off x="1188720" y="1234440"/>
            <a:ext cx="2284920" cy="521100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8"/>
          <p:cNvSpPr/>
          <p:nvPr/>
        </p:nvSpPr>
        <p:spPr>
          <a:xfrm>
            <a:off x="3474720" y="1234440"/>
            <a:ext cx="5942520" cy="521100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9"/>
          <p:cNvSpPr/>
          <p:nvPr/>
        </p:nvSpPr>
        <p:spPr>
          <a:xfrm>
            <a:off x="9418320" y="1234440"/>
            <a:ext cx="2102040" cy="521100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685800" y="128016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#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1"/>
          <p:cNvSpPr/>
          <p:nvPr/>
        </p:nvSpPr>
        <p:spPr>
          <a:xfrm>
            <a:off x="1234440" y="1280160"/>
            <a:ext cx="219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Story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2"/>
          <p:cNvSpPr/>
          <p:nvPr/>
        </p:nvSpPr>
        <p:spPr>
          <a:xfrm>
            <a:off x="3520440" y="1280160"/>
            <a:ext cx="5851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Description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3"/>
          <p:cNvSpPr/>
          <p:nvPr/>
        </p:nvSpPr>
        <p:spPr>
          <a:xfrm>
            <a:off x="9464040" y="128016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Priority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14"/>
          <p:cNvSpPr/>
          <p:nvPr/>
        </p:nvSpPr>
        <p:spPr>
          <a:xfrm>
            <a:off x="1188720" y="1737360"/>
            <a:ext cx="8502840" cy="538560"/>
          </a:xfrm>
          <a:prstGeom prst="rect">
            <a:avLst/>
          </a:prstGeom>
          <a:solidFill>
            <a:srgbClr val="072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5"/>
          <p:cNvSpPr/>
          <p:nvPr/>
        </p:nvSpPr>
        <p:spPr>
          <a:xfrm>
            <a:off x="685800" y="182880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6"/>
          <p:cNvSpPr/>
          <p:nvPr/>
        </p:nvSpPr>
        <p:spPr>
          <a:xfrm>
            <a:off x="1234440" y="1828800"/>
            <a:ext cx="219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Privacy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7"/>
          <p:cNvSpPr/>
          <p:nvPr/>
        </p:nvSpPr>
        <p:spPr>
          <a:xfrm>
            <a:off x="3520440" y="1828800"/>
            <a:ext cx="5759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Book holidays in a private, secure environment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8"/>
          <p:cNvSpPr/>
          <p:nvPr/>
        </p:nvSpPr>
        <p:spPr>
          <a:xfrm>
            <a:off x="9464040" y="182880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High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9"/>
          <p:cNvSpPr/>
          <p:nvPr/>
        </p:nvSpPr>
        <p:spPr>
          <a:xfrm>
            <a:off x="685800" y="239580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0"/>
          <p:cNvSpPr/>
          <p:nvPr/>
        </p:nvSpPr>
        <p:spPr>
          <a:xfrm>
            <a:off x="1234440" y="2395800"/>
            <a:ext cx="219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Feedback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1"/>
          <p:cNvSpPr/>
          <p:nvPr/>
        </p:nvSpPr>
        <p:spPr>
          <a:xfrm>
            <a:off x="3520440" y="2395800"/>
            <a:ext cx="5759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Leave feedback on holidays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22"/>
          <p:cNvSpPr/>
          <p:nvPr/>
        </p:nvSpPr>
        <p:spPr>
          <a:xfrm>
            <a:off x="9464040" y="239580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High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23"/>
          <p:cNvSpPr/>
          <p:nvPr/>
        </p:nvSpPr>
        <p:spPr>
          <a:xfrm>
            <a:off x="1188720" y="2871360"/>
            <a:ext cx="8502840" cy="538560"/>
          </a:xfrm>
          <a:prstGeom prst="rect">
            <a:avLst/>
          </a:prstGeom>
          <a:solidFill>
            <a:srgbClr val="072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24"/>
          <p:cNvSpPr/>
          <p:nvPr/>
        </p:nvSpPr>
        <p:spPr>
          <a:xfrm>
            <a:off x="685800" y="296280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25"/>
          <p:cNvSpPr/>
          <p:nvPr/>
        </p:nvSpPr>
        <p:spPr>
          <a:xfrm>
            <a:off x="1234440" y="2962800"/>
            <a:ext cx="219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Watch Videos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6"/>
          <p:cNvSpPr/>
          <p:nvPr/>
        </p:nvSpPr>
        <p:spPr>
          <a:xfrm>
            <a:off x="3520440" y="2962800"/>
            <a:ext cx="5759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View other people's holiday videos if posted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27"/>
          <p:cNvSpPr/>
          <p:nvPr/>
        </p:nvSpPr>
        <p:spPr>
          <a:xfrm>
            <a:off x="9464040" y="2962800"/>
            <a:ext cx="2010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890A8"/>
                </a:solidFill>
                <a:effectLst/>
                <a:uFillTx/>
                <a:latin typeface="Calibri"/>
              </a:rPr>
              <a:t>Low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28"/>
          <p:cNvSpPr/>
          <p:nvPr/>
        </p:nvSpPr>
        <p:spPr>
          <a:xfrm>
            <a:off x="685800" y="352944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9"/>
          <p:cNvSpPr/>
          <p:nvPr/>
        </p:nvSpPr>
        <p:spPr>
          <a:xfrm>
            <a:off x="1234440" y="3529440"/>
            <a:ext cx="219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Create Account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30"/>
          <p:cNvSpPr/>
          <p:nvPr/>
        </p:nvSpPr>
        <p:spPr>
          <a:xfrm>
            <a:off x="3520440" y="3529440"/>
            <a:ext cx="5759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Create an account to book holidays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1"/>
          <p:cNvSpPr/>
          <p:nvPr/>
        </p:nvSpPr>
        <p:spPr>
          <a:xfrm>
            <a:off x="9464040" y="3529440"/>
            <a:ext cx="2010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890A8"/>
                </a:solidFill>
                <a:effectLst/>
                <a:uFillTx/>
                <a:latin typeface="Calibri"/>
              </a:rPr>
              <a:t>Low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32"/>
          <p:cNvSpPr/>
          <p:nvPr/>
        </p:nvSpPr>
        <p:spPr>
          <a:xfrm>
            <a:off x="1188720" y="4005000"/>
            <a:ext cx="8502840" cy="538560"/>
          </a:xfrm>
          <a:prstGeom prst="rect">
            <a:avLst/>
          </a:prstGeom>
          <a:solidFill>
            <a:srgbClr val="072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33"/>
          <p:cNvSpPr/>
          <p:nvPr/>
        </p:nvSpPr>
        <p:spPr>
          <a:xfrm>
            <a:off x="685800" y="409644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34"/>
          <p:cNvSpPr/>
          <p:nvPr/>
        </p:nvSpPr>
        <p:spPr>
          <a:xfrm>
            <a:off x="1234440" y="4096440"/>
            <a:ext cx="219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Add Adventure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5"/>
          <p:cNvSpPr/>
          <p:nvPr/>
        </p:nvSpPr>
        <p:spPr>
          <a:xfrm>
            <a:off x="3520440" y="4096440"/>
            <a:ext cx="5759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Add an adventure for my holiday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36"/>
          <p:cNvSpPr/>
          <p:nvPr/>
        </p:nvSpPr>
        <p:spPr>
          <a:xfrm>
            <a:off x="9464040" y="4096440"/>
            <a:ext cx="2010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High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37"/>
          <p:cNvSpPr/>
          <p:nvPr/>
        </p:nvSpPr>
        <p:spPr>
          <a:xfrm>
            <a:off x="685800" y="466344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8"/>
          <p:cNvSpPr/>
          <p:nvPr/>
        </p:nvSpPr>
        <p:spPr>
          <a:xfrm>
            <a:off x="1234440" y="4663440"/>
            <a:ext cx="219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List Holidays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39"/>
          <p:cNvSpPr/>
          <p:nvPr/>
        </p:nvSpPr>
        <p:spPr>
          <a:xfrm>
            <a:off x="3520440" y="4663440"/>
            <a:ext cx="5759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See a list of available adventures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40"/>
          <p:cNvSpPr/>
          <p:nvPr/>
        </p:nvSpPr>
        <p:spPr>
          <a:xfrm>
            <a:off x="9464040" y="466344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High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41"/>
          <p:cNvSpPr/>
          <p:nvPr/>
        </p:nvSpPr>
        <p:spPr>
          <a:xfrm>
            <a:off x="1188720" y="5139000"/>
            <a:ext cx="8502840" cy="538560"/>
          </a:xfrm>
          <a:prstGeom prst="rect">
            <a:avLst/>
          </a:prstGeom>
          <a:solidFill>
            <a:srgbClr val="072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42"/>
          <p:cNvSpPr/>
          <p:nvPr/>
        </p:nvSpPr>
        <p:spPr>
          <a:xfrm>
            <a:off x="685800" y="523044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43"/>
          <p:cNvSpPr/>
          <p:nvPr/>
        </p:nvSpPr>
        <p:spPr>
          <a:xfrm>
            <a:off x="1234440" y="5230440"/>
            <a:ext cx="219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Edit Adventure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44"/>
          <p:cNvSpPr/>
          <p:nvPr/>
        </p:nvSpPr>
        <p:spPr>
          <a:xfrm>
            <a:off x="3520440" y="5230440"/>
            <a:ext cx="5759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Edit booked adventures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45"/>
          <p:cNvSpPr/>
          <p:nvPr/>
        </p:nvSpPr>
        <p:spPr>
          <a:xfrm>
            <a:off x="9464040" y="523044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High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46"/>
          <p:cNvSpPr/>
          <p:nvPr/>
        </p:nvSpPr>
        <p:spPr>
          <a:xfrm>
            <a:off x="685800" y="579744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47"/>
          <p:cNvSpPr/>
          <p:nvPr/>
        </p:nvSpPr>
        <p:spPr>
          <a:xfrm>
            <a:off x="1234440" y="5797440"/>
            <a:ext cx="219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Delete Adventure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48"/>
          <p:cNvSpPr/>
          <p:nvPr/>
        </p:nvSpPr>
        <p:spPr>
          <a:xfrm>
            <a:off x="3520440" y="5797440"/>
            <a:ext cx="5759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Delete an adventure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49"/>
          <p:cNvSpPr/>
          <p:nvPr/>
        </p:nvSpPr>
        <p:spPr>
          <a:xfrm>
            <a:off x="9464040" y="579744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High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2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3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640080" y="228600"/>
            <a:ext cx="10514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Architecture Diagram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5"/>
          <p:cNvSpPr/>
          <p:nvPr/>
        </p:nvSpPr>
        <p:spPr>
          <a:xfrm>
            <a:off x="640080" y="86868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System design overview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6"/>
          <p:cNvSpPr/>
          <p:nvPr/>
        </p:nvSpPr>
        <p:spPr>
          <a:xfrm>
            <a:off x="640080" y="1234440"/>
            <a:ext cx="10907640" cy="521100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7"/>
          <p:cNvSpPr/>
          <p:nvPr/>
        </p:nvSpPr>
        <p:spPr>
          <a:xfrm>
            <a:off x="640080" y="1234440"/>
            <a:ext cx="10907640" cy="53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8"/>
          <p:cNvSpPr/>
          <p:nvPr/>
        </p:nvSpPr>
        <p:spPr>
          <a:xfrm>
            <a:off x="640080" y="3200400"/>
            <a:ext cx="109076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0" i="1" u="none" strike="noStrike">
                <a:solidFill>
                  <a:srgbClr val="0890A8"/>
                </a:solidFill>
                <a:effectLst/>
                <a:uFillTx/>
                <a:latin typeface="Calibri"/>
              </a:rPr>
              <a:t>[ Insert Architecture Diagram Here ]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9"/>
          <p:cNvSpPr/>
          <p:nvPr/>
        </p:nvSpPr>
        <p:spPr>
          <a:xfrm>
            <a:off x="640080" y="4297680"/>
            <a:ext cx="10907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React Frontend  →  Express/Node.js API  →  MongoDB Database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4" name=""/>
          <p:cNvPicPr/>
          <p:nvPr/>
        </p:nvPicPr>
        <p:blipFill>
          <a:blip r:embed="rId1"/>
          <a:stretch/>
        </p:blipFill>
        <p:spPr>
          <a:xfrm>
            <a:off x="2122200" y="2494440"/>
            <a:ext cx="8001000" cy="230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2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3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4"/>
          <p:cNvSpPr/>
          <p:nvPr/>
        </p:nvSpPr>
        <p:spPr>
          <a:xfrm>
            <a:off x="640080" y="228600"/>
            <a:ext cx="10514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Wireframe Design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640080" y="86868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UI/UX — Figma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6"/>
          <p:cNvSpPr/>
          <p:nvPr/>
        </p:nvSpPr>
        <p:spPr>
          <a:xfrm>
            <a:off x="640080" y="1234440"/>
            <a:ext cx="10907640" cy="521100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Rectangle 7"/>
          <p:cNvSpPr/>
          <p:nvPr/>
        </p:nvSpPr>
        <p:spPr>
          <a:xfrm>
            <a:off x="640080" y="1234440"/>
            <a:ext cx="10907640" cy="53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8"/>
          <p:cNvSpPr/>
          <p:nvPr/>
        </p:nvSpPr>
        <p:spPr>
          <a:xfrm>
            <a:off x="640080" y="3200400"/>
            <a:ext cx="109076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0" i="1" u="none" strike="noStrike">
                <a:solidFill>
                  <a:srgbClr val="0890A8"/>
                </a:solidFill>
                <a:effectLst/>
                <a:uFillTx/>
                <a:latin typeface="Calibri"/>
              </a:rPr>
              <a:t>[ Insert Figma Wireframe Screenshot Here ]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9"/>
          <p:cNvSpPr/>
          <p:nvPr/>
        </p:nvSpPr>
        <p:spPr>
          <a:xfrm>
            <a:off x="640080" y="4297680"/>
            <a:ext cx="10907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890A8"/>
                </a:solidFill>
                <a:effectLst/>
                <a:uFillTx/>
                <a:latin typeface="Calibri"/>
              </a:rPr>
              <a:t>Export from Figma: File → Export → PNG, then insert image above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4" name=""/>
          <p:cNvPicPr/>
          <p:nvPr/>
        </p:nvPicPr>
        <p:blipFill>
          <a:blip r:embed="rId1"/>
          <a:stretch/>
        </p:blipFill>
        <p:spPr>
          <a:xfrm>
            <a:off x="2743200" y="685800"/>
            <a:ext cx="6857640" cy="342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"/>
          <p:cNvPicPr/>
          <p:nvPr/>
        </p:nvPicPr>
        <p:blipFill>
          <a:blip r:embed="rId2"/>
          <a:stretch/>
        </p:blipFill>
        <p:spPr>
          <a:xfrm>
            <a:off x="2743200" y="4114800"/>
            <a:ext cx="6923880" cy="277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9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30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ectangle 33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41"/>
          <p:cNvSpPr/>
          <p:nvPr/>
        </p:nvSpPr>
        <p:spPr>
          <a:xfrm>
            <a:off x="640080" y="228600"/>
            <a:ext cx="105145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Wireframe Design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51"/>
          <p:cNvSpPr/>
          <p:nvPr/>
        </p:nvSpPr>
        <p:spPr>
          <a:xfrm>
            <a:off x="640080" y="868680"/>
            <a:ext cx="10514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UI/UX — Figma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34"/>
          <p:cNvSpPr/>
          <p:nvPr/>
        </p:nvSpPr>
        <p:spPr>
          <a:xfrm>
            <a:off x="640080" y="1234440"/>
            <a:ext cx="10907640" cy="521100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Rectangle 35"/>
          <p:cNvSpPr/>
          <p:nvPr/>
        </p:nvSpPr>
        <p:spPr>
          <a:xfrm>
            <a:off x="640080" y="1234440"/>
            <a:ext cx="10907640" cy="53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52"/>
          <p:cNvSpPr/>
          <p:nvPr/>
        </p:nvSpPr>
        <p:spPr>
          <a:xfrm>
            <a:off x="640080" y="3200400"/>
            <a:ext cx="10907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0" i="1" u="none" strike="noStrike">
                <a:solidFill>
                  <a:srgbClr val="0890A8"/>
                </a:solidFill>
                <a:effectLst/>
                <a:uFillTx/>
                <a:latin typeface="Calibri"/>
              </a:rPr>
              <a:t>[ Insert Figma Wireframe Screenshot Here ]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56"/>
          <p:cNvSpPr/>
          <p:nvPr/>
        </p:nvSpPr>
        <p:spPr>
          <a:xfrm>
            <a:off x="640080" y="4297680"/>
            <a:ext cx="10907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890A8"/>
                </a:solidFill>
                <a:effectLst/>
                <a:uFillTx/>
                <a:latin typeface="Calibri"/>
              </a:rPr>
              <a:t>Export from Figma: File → Export → PNG, then insert image above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" name=""/>
          <p:cNvPicPr/>
          <p:nvPr/>
        </p:nvPicPr>
        <p:blipFill>
          <a:blip r:embed="rId1"/>
          <a:stretch/>
        </p:blipFill>
        <p:spPr>
          <a:xfrm>
            <a:off x="2700000" y="1377720"/>
            <a:ext cx="6809760" cy="328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"/>
          <p:cNvPicPr/>
          <p:nvPr/>
        </p:nvPicPr>
        <p:blipFill>
          <a:blip r:embed="rId2"/>
          <a:stretch/>
        </p:blipFill>
        <p:spPr>
          <a:xfrm>
            <a:off x="2700000" y="4663440"/>
            <a:ext cx="6933600" cy="182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38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39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ectangle 40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57"/>
          <p:cNvSpPr/>
          <p:nvPr/>
        </p:nvSpPr>
        <p:spPr>
          <a:xfrm>
            <a:off x="640080" y="228600"/>
            <a:ext cx="105145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Wireframe Design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58"/>
          <p:cNvSpPr/>
          <p:nvPr/>
        </p:nvSpPr>
        <p:spPr>
          <a:xfrm>
            <a:off x="640080" y="868680"/>
            <a:ext cx="10514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UI/UX — Figma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43"/>
          <p:cNvSpPr/>
          <p:nvPr/>
        </p:nvSpPr>
        <p:spPr>
          <a:xfrm>
            <a:off x="640080" y="1234440"/>
            <a:ext cx="10907640" cy="521100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44"/>
          <p:cNvSpPr/>
          <p:nvPr/>
        </p:nvSpPr>
        <p:spPr>
          <a:xfrm>
            <a:off x="640080" y="1234440"/>
            <a:ext cx="10907640" cy="53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59"/>
          <p:cNvSpPr/>
          <p:nvPr/>
        </p:nvSpPr>
        <p:spPr>
          <a:xfrm>
            <a:off x="640080" y="3200400"/>
            <a:ext cx="10907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0" i="1" u="none" strike="noStrike">
                <a:solidFill>
                  <a:srgbClr val="0890A8"/>
                </a:solidFill>
                <a:effectLst/>
                <a:uFillTx/>
                <a:latin typeface="Calibri"/>
              </a:rPr>
              <a:t>[ Insert Figma Wireframe Screenshot Here ]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60"/>
          <p:cNvSpPr/>
          <p:nvPr/>
        </p:nvSpPr>
        <p:spPr>
          <a:xfrm>
            <a:off x="640080" y="4297680"/>
            <a:ext cx="10907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890A8"/>
                </a:solidFill>
                <a:effectLst/>
                <a:uFillTx/>
                <a:latin typeface="Calibri"/>
              </a:rPr>
              <a:t>Export from Figma: File → Export → PNG, then insert image above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6" name=""/>
          <p:cNvPicPr/>
          <p:nvPr/>
        </p:nvPicPr>
        <p:blipFill>
          <a:blip r:embed="rId1"/>
          <a:stretch/>
        </p:blipFill>
        <p:spPr>
          <a:xfrm>
            <a:off x="2700000" y="1377720"/>
            <a:ext cx="6809760" cy="328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"/>
          <p:cNvPicPr/>
          <p:nvPr/>
        </p:nvPicPr>
        <p:blipFill>
          <a:blip r:embed="rId2"/>
          <a:stretch/>
        </p:blipFill>
        <p:spPr>
          <a:xfrm>
            <a:off x="2700000" y="4663440"/>
            <a:ext cx="6933600" cy="182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3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ectangle 20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24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1"/>
          <p:cNvSpPr/>
          <p:nvPr/>
        </p:nvSpPr>
        <p:spPr>
          <a:xfrm>
            <a:off x="640080" y="228600"/>
            <a:ext cx="105145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Wireframe Design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"/>
          <p:cNvSpPr/>
          <p:nvPr/>
        </p:nvSpPr>
        <p:spPr>
          <a:xfrm>
            <a:off x="640080" y="868680"/>
            <a:ext cx="10514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UI/UX — Figma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25"/>
          <p:cNvSpPr/>
          <p:nvPr/>
        </p:nvSpPr>
        <p:spPr>
          <a:xfrm>
            <a:off x="640080" y="1234440"/>
            <a:ext cx="10907640" cy="521100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Rectangle 28"/>
          <p:cNvSpPr/>
          <p:nvPr/>
        </p:nvSpPr>
        <p:spPr>
          <a:xfrm>
            <a:off x="640080" y="1234440"/>
            <a:ext cx="10907640" cy="53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3"/>
          <p:cNvSpPr/>
          <p:nvPr/>
        </p:nvSpPr>
        <p:spPr>
          <a:xfrm>
            <a:off x="640080" y="3200400"/>
            <a:ext cx="10907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0" i="1" u="none" strike="noStrike">
                <a:solidFill>
                  <a:srgbClr val="0890A8"/>
                </a:solidFill>
                <a:effectLst/>
                <a:uFillTx/>
                <a:latin typeface="Calibri"/>
              </a:rPr>
              <a:t>[ Insert Figma Wireframe Screenshot Here ]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2"/>
          <p:cNvSpPr/>
          <p:nvPr/>
        </p:nvSpPr>
        <p:spPr>
          <a:xfrm>
            <a:off x="640080" y="4297680"/>
            <a:ext cx="10907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890A8"/>
                </a:solidFill>
                <a:effectLst/>
                <a:uFillTx/>
                <a:latin typeface="Calibri"/>
              </a:rPr>
              <a:t>Export from Figma: File → Export → PNG, then insert image above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7" name=""/>
          <p:cNvPicPr/>
          <p:nvPr/>
        </p:nvPicPr>
        <p:blipFill>
          <a:blip r:embed="rId1"/>
          <a:stretch/>
        </p:blipFill>
        <p:spPr>
          <a:xfrm>
            <a:off x="2619720" y="1234440"/>
            <a:ext cx="6981120" cy="253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" name=""/>
          <p:cNvPicPr/>
          <p:nvPr/>
        </p:nvPicPr>
        <p:blipFill>
          <a:blip r:embed="rId2"/>
          <a:stretch/>
        </p:blipFill>
        <p:spPr>
          <a:xfrm>
            <a:off x="2676960" y="3767760"/>
            <a:ext cx="6923880" cy="308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1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Rectangle 2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ectangle 3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4"/>
          <p:cNvSpPr/>
          <p:nvPr/>
        </p:nvSpPr>
        <p:spPr>
          <a:xfrm>
            <a:off x="640080" y="228600"/>
            <a:ext cx="10514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Non-Functional Requirements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5"/>
          <p:cNvSpPr/>
          <p:nvPr/>
        </p:nvSpPr>
        <p:spPr>
          <a:xfrm>
            <a:off x="640080" y="86868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Performance, security &amp; reliability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6"/>
          <p:cNvSpPr/>
          <p:nvPr/>
        </p:nvSpPr>
        <p:spPr>
          <a:xfrm>
            <a:off x="640080" y="1280160"/>
            <a:ext cx="5302440" cy="237636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Rectangle 7"/>
          <p:cNvSpPr/>
          <p:nvPr/>
        </p:nvSpPr>
        <p:spPr>
          <a:xfrm>
            <a:off x="640080" y="1280160"/>
            <a:ext cx="5302440" cy="53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8"/>
          <p:cNvSpPr/>
          <p:nvPr/>
        </p:nvSpPr>
        <p:spPr>
          <a:xfrm>
            <a:off x="822960" y="1417320"/>
            <a:ext cx="4936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⚡  Performance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9"/>
          <p:cNvSpPr/>
          <p:nvPr/>
        </p:nvSpPr>
        <p:spPr>
          <a:xfrm>
            <a:off x="822960" y="1920240"/>
            <a:ext cx="493668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Response as fast as possible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1,000 transactions per second at peak load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10"/>
          <p:cNvSpPr/>
          <p:nvPr/>
        </p:nvSpPr>
        <p:spPr>
          <a:xfrm>
            <a:off x="6245280" y="1280160"/>
            <a:ext cx="5302440" cy="237636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Rectangle 11"/>
          <p:cNvSpPr/>
          <p:nvPr/>
        </p:nvSpPr>
        <p:spPr>
          <a:xfrm>
            <a:off x="6245280" y="1280160"/>
            <a:ext cx="5302440" cy="53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12"/>
          <p:cNvSpPr/>
          <p:nvPr/>
        </p:nvSpPr>
        <p:spPr>
          <a:xfrm>
            <a:off x="6428160" y="1417320"/>
            <a:ext cx="4936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🔒  Security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3"/>
          <p:cNvSpPr/>
          <p:nvPr/>
        </p:nvSpPr>
        <p:spPr>
          <a:xfrm>
            <a:off x="6428160" y="1920240"/>
            <a:ext cx="493668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Secure login, encrypted personal data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Privacy-first data handling throughout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14"/>
          <p:cNvSpPr/>
          <p:nvPr/>
        </p:nvSpPr>
        <p:spPr>
          <a:xfrm>
            <a:off x="640080" y="3794760"/>
            <a:ext cx="5302440" cy="237636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ectangle 15"/>
          <p:cNvSpPr/>
          <p:nvPr/>
        </p:nvSpPr>
        <p:spPr>
          <a:xfrm>
            <a:off x="640080" y="3794760"/>
            <a:ext cx="5302440" cy="53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16"/>
          <p:cNvSpPr/>
          <p:nvPr/>
        </p:nvSpPr>
        <p:spPr>
          <a:xfrm>
            <a:off x="822960" y="3931920"/>
            <a:ext cx="4936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♿  Usability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7"/>
          <p:cNvSpPr/>
          <p:nvPr/>
        </p:nvSpPr>
        <p:spPr>
          <a:xfrm>
            <a:off x="822960" y="4434840"/>
            <a:ext cx="493668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Easy to use for all ages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Intuitive interface requiring no technical expertise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18"/>
          <p:cNvSpPr/>
          <p:nvPr/>
        </p:nvSpPr>
        <p:spPr>
          <a:xfrm>
            <a:off x="6245280" y="3794760"/>
            <a:ext cx="5302440" cy="237636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Rectangle 19"/>
          <p:cNvSpPr/>
          <p:nvPr/>
        </p:nvSpPr>
        <p:spPr>
          <a:xfrm>
            <a:off x="6245280" y="3794760"/>
            <a:ext cx="5302440" cy="53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20"/>
          <p:cNvSpPr/>
          <p:nvPr/>
        </p:nvSpPr>
        <p:spPr>
          <a:xfrm>
            <a:off x="6428160" y="3931920"/>
            <a:ext cx="4936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🔧  Reliability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21"/>
          <p:cNvSpPr/>
          <p:nvPr/>
        </p:nvSpPr>
        <p:spPr>
          <a:xfrm>
            <a:off x="6428160" y="4434840"/>
            <a:ext cx="493668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100% uptime target, 24/7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Max 1 hour between failure recovery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ectangle 2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Rectangle 3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4"/>
          <p:cNvSpPr/>
          <p:nvPr/>
        </p:nvSpPr>
        <p:spPr>
          <a:xfrm>
            <a:off x="640080" y="228600"/>
            <a:ext cx="10514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Project Planning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5"/>
          <p:cNvSpPr/>
          <p:nvPr/>
        </p:nvSpPr>
        <p:spPr>
          <a:xfrm>
            <a:off x="640080" y="86868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10-day development sprint using GitHub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6"/>
          <p:cNvSpPr/>
          <p:nvPr/>
        </p:nvSpPr>
        <p:spPr>
          <a:xfrm>
            <a:off x="777240" y="2103120"/>
            <a:ext cx="1068840" cy="35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Rectangle 7"/>
          <p:cNvSpPr/>
          <p:nvPr/>
        </p:nvSpPr>
        <p:spPr>
          <a:xfrm>
            <a:off x="868680" y="1920240"/>
            <a:ext cx="227520" cy="2275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8"/>
          <p:cNvSpPr/>
          <p:nvPr/>
        </p:nvSpPr>
        <p:spPr>
          <a:xfrm>
            <a:off x="502920" y="1371600"/>
            <a:ext cx="1077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Mon 12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9"/>
          <p:cNvSpPr/>
          <p:nvPr/>
        </p:nvSpPr>
        <p:spPr>
          <a:xfrm>
            <a:off x="502920" y="2331720"/>
            <a:ext cx="1077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Research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0"/>
          <p:cNvSpPr/>
          <p:nvPr/>
        </p:nvSpPr>
        <p:spPr>
          <a:xfrm>
            <a:off x="502920" y="2834640"/>
            <a:ext cx="103212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Researched existing travel platforms &amp; project direction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11"/>
          <p:cNvSpPr/>
          <p:nvPr/>
        </p:nvSpPr>
        <p:spPr>
          <a:xfrm>
            <a:off x="1856160" y="2103120"/>
            <a:ext cx="1068840" cy="35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Rectangle 12"/>
          <p:cNvSpPr/>
          <p:nvPr/>
        </p:nvSpPr>
        <p:spPr>
          <a:xfrm>
            <a:off x="1947600" y="1920240"/>
            <a:ext cx="227520" cy="2275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13"/>
          <p:cNvSpPr/>
          <p:nvPr/>
        </p:nvSpPr>
        <p:spPr>
          <a:xfrm>
            <a:off x="1581840" y="1371600"/>
            <a:ext cx="1077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Tue 13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4"/>
          <p:cNvSpPr/>
          <p:nvPr/>
        </p:nvSpPr>
        <p:spPr>
          <a:xfrm>
            <a:off x="1581840" y="2331720"/>
            <a:ext cx="1077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Documentation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5"/>
          <p:cNvSpPr/>
          <p:nvPr/>
        </p:nvSpPr>
        <p:spPr>
          <a:xfrm>
            <a:off x="1581840" y="2834640"/>
            <a:ext cx="103212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Started project documentation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16"/>
          <p:cNvSpPr/>
          <p:nvPr/>
        </p:nvSpPr>
        <p:spPr>
          <a:xfrm>
            <a:off x="2935080" y="2103120"/>
            <a:ext cx="1068840" cy="35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Rectangle 17"/>
          <p:cNvSpPr/>
          <p:nvPr/>
        </p:nvSpPr>
        <p:spPr>
          <a:xfrm>
            <a:off x="3026520" y="1920240"/>
            <a:ext cx="227520" cy="2275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18"/>
          <p:cNvSpPr/>
          <p:nvPr/>
        </p:nvSpPr>
        <p:spPr>
          <a:xfrm>
            <a:off x="2660760" y="1371600"/>
            <a:ext cx="1077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Wed 14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19"/>
          <p:cNvSpPr/>
          <p:nvPr/>
        </p:nvSpPr>
        <p:spPr>
          <a:xfrm>
            <a:off x="2660760" y="2331720"/>
            <a:ext cx="1077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Backend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0"/>
          <p:cNvSpPr/>
          <p:nvPr/>
        </p:nvSpPr>
        <p:spPr>
          <a:xfrm>
            <a:off x="2660760" y="2834640"/>
            <a:ext cx="103212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Built backend with JavaScript using MVC architecture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21"/>
          <p:cNvSpPr/>
          <p:nvPr/>
        </p:nvSpPr>
        <p:spPr>
          <a:xfrm>
            <a:off x="4014360" y="2103120"/>
            <a:ext cx="1068840" cy="35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Rectangle 22"/>
          <p:cNvSpPr/>
          <p:nvPr/>
        </p:nvSpPr>
        <p:spPr>
          <a:xfrm>
            <a:off x="4105800" y="1920240"/>
            <a:ext cx="227520" cy="2275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23"/>
          <p:cNvSpPr/>
          <p:nvPr/>
        </p:nvSpPr>
        <p:spPr>
          <a:xfrm>
            <a:off x="3740040" y="1371600"/>
            <a:ext cx="1077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Thu 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4"/>
          <p:cNvSpPr/>
          <p:nvPr/>
        </p:nvSpPr>
        <p:spPr>
          <a:xfrm>
            <a:off x="3740040" y="2331720"/>
            <a:ext cx="1077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Backend Testing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25"/>
          <p:cNvSpPr/>
          <p:nvPr/>
        </p:nvSpPr>
        <p:spPr>
          <a:xfrm>
            <a:off x="3740040" y="2834640"/>
            <a:ext cx="103212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Tested backend, identified and fixed errors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26"/>
          <p:cNvSpPr/>
          <p:nvPr/>
        </p:nvSpPr>
        <p:spPr>
          <a:xfrm>
            <a:off x="5093280" y="2103120"/>
            <a:ext cx="1068840" cy="35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Rectangle 27"/>
          <p:cNvSpPr/>
          <p:nvPr/>
        </p:nvSpPr>
        <p:spPr>
          <a:xfrm>
            <a:off x="5184720" y="1920240"/>
            <a:ext cx="227520" cy="2275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28"/>
          <p:cNvSpPr/>
          <p:nvPr/>
        </p:nvSpPr>
        <p:spPr>
          <a:xfrm>
            <a:off x="4818960" y="1371600"/>
            <a:ext cx="1077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Fri 16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29"/>
          <p:cNvSpPr/>
          <p:nvPr/>
        </p:nvSpPr>
        <p:spPr>
          <a:xfrm>
            <a:off x="4818960" y="2331720"/>
            <a:ext cx="1077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Frontend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30"/>
          <p:cNvSpPr/>
          <p:nvPr/>
        </p:nvSpPr>
        <p:spPr>
          <a:xfrm>
            <a:off x="4818960" y="2834640"/>
            <a:ext cx="103212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Built React frontend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31"/>
          <p:cNvSpPr/>
          <p:nvPr/>
        </p:nvSpPr>
        <p:spPr>
          <a:xfrm>
            <a:off x="6172200" y="2103120"/>
            <a:ext cx="1068840" cy="35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Rectangle 32"/>
          <p:cNvSpPr/>
          <p:nvPr/>
        </p:nvSpPr>
        <p:spPr>
          <a:xfrm>
            <a:off x="6263640" y="1920240"/>
            <a:ext cx="227520" cy="2275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33"/>
          <p:cNvSpPr/>
          <p:nvPr/>
        </p:nvSpPr>
        <p:spPr>
          <a:xfrm>
            <a:off x="5897880" y="1371600"/>
            <a:ext cx="1077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Sat 17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34"/>
          <p:cNvSpPr/>
          <p:nvPr/>
        </p:nvSpPr>
        <p:spPr>
          <a:xfrm>
            <a:off x="5897880" y="2331720"/>
            <a:ext cx="1077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Frontend Testing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35"/>
          <p:cNvSpPr/>
          <p:nvPr/>
        </p:nvSpPr>
        <p:spPr>
          <a:xfrm>
            <a:off x="5897880" y="2834640"/>
            <a:ext cx="103212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Tested frontend, fixed errors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Rectangle 36"/>
          <p:cNvSpPr/>
          <p:nvPr/>
        </p:nvSpPr>
        <p:spPr>
          <a:xfrm>
            <a:off x="7251120" y="2103120"/>
            <a:ext cx="1068840" cy="35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Rectangle 37"/>
          <p:cNvSpPr/>
          <p:nvPr/>
        </p:nvSpPr>
        <p:spPr>
          <a:xfrm>
            <a:off x="7342560" y="1920240"/>
            <a:ext cx="227520" cy="2275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38"/>
          <p:cNvSpPr/>
          <p:nvPr/>
        </p:nvSpPr>
        <p:spPr>
          <a:xfrm>
            <a:off x="6976800" y="1371600"/>
            <a:ext cx="1077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Sun 18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39"/>
          <p:cNvSpPr/>
          <p:nvPr/>
        </p:nvSpPr>
        <p:spPr>
          <a:xfrm>
            <a:off x="6976800" y="2331720"/>
            <a:ext cx="1077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Database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40"/>
          <p:cNvSpPr/>
          <p:nvPr/>
        </p:nvSpPr>
        <p:spPr>
          <a:xfrm>
            <a:off x="6976800" y="2834640"/>
            <a:ext cx="103212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Set up MongoDB database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41"/>
          <p:cNvSpPr/>
          <p:nvPr/>
        </p:nvSpPr>
        <p:spPr>
          <a:xfrm>
            <a:off x="8330040" y="2103120"/>
            <a:ext cx="1068840" cy="35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Rectangle 42"/>
          <p:cNvSpPr/>
          <p:nvPr/>
        </p:nvSpPr>
        <p:spPr>
          <a:xfrm>
            <a:off x="8421480" y="1920240"/>
            <a:ext cx="227520" cy="2275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43"/>
          <p:cNvSpPr/>
          <p:nvPr/>
        </p:nvSpPr>
        <p:spPr>
          <a:xfrm>
            <a:off x="8055720" y="1371600"/>
            <a:ext cx="1077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Mon 19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44"/>
          <p:cNvSpPr/>
          <p:nvPr/>
        </p:nvSpPr>
        <p:spPr>
          <a:xfrm>
            <a:off x="8055720" y="2331720"/>
            <a:ext cx="1077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DB Testing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45"/>
          <p:cNvSpPr/>
          <p:nvPr/>
        </p:nvSpPr>
        <p:spPr>
          <a:xfrm>
            <a:off x="8055720" y="2834640"/>
            <a:ext cx="103212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Tested database, fixed errors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46"/>
          <p:cNvSpPr/>
          <p:nvPr/>
        </p:nvSpPr>
        <p:spPr>
          <a:xfrm>
            <a:off x="9409320" y="2103120"/>
            <a:ext cx="1068840" cy="35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Rectangle 47"/>
          <p:cNvSpPr/>
          <p:nvPr/>
        </p:nvSpPr>
        <p:spPr>
          <a:xfrm>
            <a:off x="9500760" y="1920240"/>
            <a:ext cx="227520" cy="2275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48"/>
          <p:cNvSpPr/>
          <p:nvPr/>
        </p:nvSpPr>
        <p:spPr>
          <a:xfrm>
            <a:off x="9135000" y="1371600"/>
            <a:ext cx="1077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Tue 20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49"/>
          <p:cNvSpPr/>
          <p:nvPr/>
        </p:nvSpPr>
        <p:spPr>
          <a:xfrm>
            <a:off x="9135000" y="2331720"/>
            <a:ext cx="1077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Presentation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50"/>
          <p:cNvSpPr/>
          <p:nvPr/>
        </p:nvSpPr>
        <p:spPr>
          <a:xfrm>
            <a:off x="9135000" y="2834640"/>
            <a:ext cx="103212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Created presentation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51"/>
          <p:cNvSpPr/>
          <p:nvPr/>
        </p:nvSpPr>
        <p:spPr>
          <a:xfrm>
            <a:off x="10488240" y="2103120"/>
            <a:ext cx="1068840" cy="35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Rectangle 52"/>
          <p:cNvSpPr/>
          <p:nvPr/>
        </p:nvSpPr>
        <p:spPr>
          <a:xfrm>
            <a:off x="10579680" y="1920240"/>
            <a:ext cx="227520" cy="2275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53"/>
          <p:cNvSpPr/>
          <p:nvPr/>
        </p:nvSpPr>
        <p:spPr>
          <a:xfrm>
            <a:off x="10213920" y="1371600"/>
            <a:ext cx="1077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Wed 21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54"/>
          <p:cNvSpPr/>
          <p:nvPr/>
        </p:nvSpPr>
        <p:spPr>
          <a:xfrm>
            <a:off x="10213920" y="2331720"/>
            <a:ext cx="1077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Final Testing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55"/>
          <p:cNvSpPr/>
          <p:nvPr/>
        </p:nvSpPr>
        <p:spPr>
          <a:xfrm>
            <a:off x="10213920" y="2834640"/>
            <a:ext cx="103212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End-to-end testing of website &amp; presentation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1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Rectangle 2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Rectangle 3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4"/>
          <p:cNvSpPr/>
          <p:nvPr/>
        </p:nvSpPr>
        <p:spPr>
          <a:xfrm>
            <a:off x="640080" y="228600"/>
            <a:ext cx="10514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Testing Strategy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5"/>
          <p:cNvSpPr/>
          <p:nvPr/>
        </p:nvSpPr>
        <p:spPr>
          <a:xfrm>
            <a:off x="640080" y="86868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Jest &amp; Thunder Client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Rectangle 6"/>
          <p:cNvSpPr/>
          <p:nvPr/>
        </p:nvSpPr>
        <p:spPr>
          <a:xfrm>
            <a:off x="640080" y="1234440"/>
            <a:ext cx="5302440" cy="521100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Rectangle 7"/>
          <p:cNvSpPr/>
          <p:nvPr/>
        </p:nvSpPr>
        <p:spPr>
          <a:xfrm>
            <a:off x="6245280" y="1234440"/>
            <a:ext cx="5302440" cy="521100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Rectangle 8"/>
          <p:cNvSpPr/>
          <p:nvPr/>
        </p:nvSpPr>
        <p:spPr>
          <a:xfrm>
            <a:off x="640080" y="1234440"/>
            <a:ext cx="5302440" cy="53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Rectangle 9"/>
          <p:cNvSpPr/>
          <p:nvPr/>
        </p:nvSpPr>
        <p:spPr>
          <a:xfrm>
            <a:off x="6245280" y="1234440"/>
            <a:ext cx="5302440" cy="53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10"/>
          <p:cNvSpPr/>
          <p:nvPr/>
        </p:nvSpPr>
        <p:spPr>
          <a:xfrm>
            <a:off x="868680" y="1353240"/>
            <a:ext cx="4845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Tools &amp; Approach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11"/>
          <p:cNvSpPr/>
          <p:nvPr/>
        </p:nvSpPr>
        <p:spPr>
          <a:xfrm>
            <a:off x="868680" y="1874520"/>
            <a:ext cx="4845240" cy="141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Jest — Unit, integration and automated testing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Thunder Client — API endpoint testing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Manual testing by hand across all features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Code tested before each new feature added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Comments added throughout for clarity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12"/>
          <p:cNvSpPr/>
          <p:nvPr/>
        </p:nvSpPr>
        <p:spPr>
          <a:xfrm>
            <a:off x="6473880" y="1353240"/>
            <a:ext cx="4845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Quality Assurance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13"/>
          <p:cNvSpPr/>
          <p:nvPr/>
        </p:nvSpPr>
        <p:spPr>
          <a:xfrm>
            <a:off x="6473880" y="1874520"/>
            <a:ext cx="4845240" cy="41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Extensive research into existing travel platforms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Each feature tested with principal software tools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Edge cases handled by testing incrementally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Code reviewed for readability with inline comments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End-to-end testing on final day (Wed 21)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 1"/>
          <p:cNvSpPr/>
          <p:nvPr/>
        </p:nvSpPr>
        <p:spPr>
          <a:xfrm>
            <a:off x="0" y="0"/>
            <a:ext cx="12187800" cy="720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Rectangle 2"/>
          <p:cNvSpPr/>
          <p:nvPr/>
        </p:nvSpPr>
        <p:spPr>
          <a:xfrm>
            <a:off x="0" y="73080"/>
            <a:ext cx="410400" cy="67838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Rectangle 3"/>
          <p:cNvSpPr/>
          <p:nvPr/>
        </p:nvSpPr>
        <p:spPr>
          <a:xfrm>
            <a:off x="411480" y="73080"/>
            <a:ext cx="53640" cy="67838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4"/>
          <p:cNvSpPr/>
          <p:nvPr/>
        </p:nvSpPr>
        <p:spPr>
          <a:xfrm>
            <a:off x="640080" y="228600"/>
            <a:ext cx="10514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Implementation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5"/>
          <p:cNvSpPr/>
          <p:nvPr/>
        </p:nvSpPr>
        <p:spPr>
          <a:xfrm>
            <a:off x="640080" y="86868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Tech stack, deployment &amp; outcome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Rectangle 6"/>
          <p:cNvSpPr/>
          <p:nvPr/>
        </p:nvSpPr>
        <p:spPr>
          <a:xfrm>
            <a:off x="640080" y="1234440"/>
            <a:ext cx="5302440" cy="521100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Rectangle 7"/>
          <p:cNvSpPr/>
          <p:nvPr/>
        </p:nvSpPr>
        <p:spPr>
          <a:xfrm>
            <a:off x="640080" y="1234440"/>
            <a:ext cx="5302440" cy="53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8"/>
          <p:cNvSpPr/>
          <p:nvPr/>
        </p:nvSpPr>
        <p:spPr>
          <a:xfrm>
            <a:off x="868680" y="1353240"/>
            <a:ext cx="4845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Tech Stack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9"/>
          <p:cNvSpPr/>
          <p:nvPr/>
        </p:nvSpPr>
        <p:spPr>
          <a:xfrm>
            <a:off x="868680" y="1874520"/>
            <a:ext cx="4845240" cy="41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Frontend: React.js with MUI components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Backend: Node.js / Express.js (MVC pattern)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Database: MongoDB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Version Control: GitHub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Testing: Jest + Thunder Client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Deployment: Local (AWS EC2 + Docker out of scope)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Rectangle 10"/>
          <p:cNvSpPr/>
          <p:nvPr/>
        </p:nvSpPr>
        <p:spPr>
          <a:xfrm>
            <a:off x="6245280" y="1234440"/>
            <a:ext cx="5302440" cy="237636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Rectangle 11"/>
          <p:cNvSpPr/>
          <p:nvPr/>
        </p:nvSpPr>
        <p:spPr>
          <a:xfrm>
            <a:off x="6245280" y="1234440"/>
            <a:ext cx="5302440" cy="53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12"/>
          <p:cNvSpPr/>
          <p:nvPr/>
        </p:nvSpPr>
        <p:spPr>
          <a:xfrm>
            <a:off x="6473880" y="1353240"/>
            <a:ext cx="4845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End-to-End Outcome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3"/>
          <p:cNvSpPr/>
          <p:nvPr/>
        </p:nvSpPr>
        <p:spPr>
          <a:xfrm>
            <a:off x="6473880" y="1874520"/>
            <a:ext cx="48452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The website is fully functional — helping users discover and book adventures while keeping their data private.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Rectangle 14"/>
          <p:cNvSpPr/>
          <p:nvPr/>
        </p:nvSpPr>
        <p:spPr>
          <a:xfrm>
            <a:off x="6245280" y="3794760"/>
            <a:ext cx="5302440" cy="2650680"/>
          </a:xfrm>
          <a:prstGeom prst="rect">
            <a:avLst/>
          </a:prstGeom>
          <a:solidFill>
            <a:srgbClr val="061A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Rectangle 15"/>
          <p:cNvSpPr/>
          <p:nvPr/>
        </p:nvSpPr>
        <p:spPr>
          <a:xfrm>
            <a:off x="6245280" y="3794760"/>
            <a:ext cx="5302440" cy="53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16"/>
          <p:cNvSpPr/>
          <p:nvPr/>
        </p:nvSpPr>
        <p:spPr>
          <a:xfrm>
            <a:off x="6473880" y="3913560"/>
            <a:ext cx="4845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Out of Scope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17"/>
          <p:cNvSpPr/>
          <p:nvPr/>
        </p:nvSpPr>
        <p:spPr>
          <a:xfrm>
            <a:off x="6473880" y="4434840"/>
            <a:ext cx="484524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Adventure images/videos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Other users' public feedback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AWS EC2 / Docker deployment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Dynamic low-price guarantees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Rectangle 1"/>
          <p:cNvSpPr/>
          <p:nvPr/>
        </p:nvSpPr>
        <p:spPr>
          <a:xfrm>
            <a:off x="0" y="0"/>
            <a:ext cx="12187800" cy="1087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6" name="Rectangle 2"/>
          <p:cNvSpPr/>
          <p:nvPr/>
        </p:nvSpPr>
        <p:spPr>
          <a:xfrm>
            <a:off x="0" y="6748200"/>
            <a:ext cx="12187800" cy="1087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Rectangle 3"/>
          <p:cNvSpPr/>
          <p:nvPr/>
        </p:nvSpPr>
        <p:spPr>
          <a:xfrm>
            <a:off x="0" y="109800"/>
            <a:ext cx="108720" cy="66373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360" tIns="45000" rIns="54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Rectangle 4"/>
          <p:cNvSpPr/>
          <p:nvPr/>
        </p:nvSpPr>
        <p:spPr>
          <a:xfrm>
            <a:off x="12079080" y="109800"/>
            <a:ext cx="108720" cy="66373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360" tIns="45000" rIns="54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5"/>
          <p:cNvSpPr/>
          <p:nvPr/>
        </p:nvSpPr>
        <p:spPr>
          <a:xfrm>
            <a:off x="1371600" y="1371600"/>
            <a:ext cx="941724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Thank You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6"/>
          <p:cNvSpPr/>
          <p:nvPr/>
        </p:nvSpPr>
        <p:spPr>
          <a:xfrm>
            <a:off x="1371600" y="2651760"/>
            <a:ext cx="9417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i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Privacy-First Travel Platform — Capstone Project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7"/>
          <p:cNvSpPr/>
          <p:nvPr/>
        </p:nvSpPr>
        <p:spPr>
          <a:xfrm>
            <a:off x="3657600" y="3337560"/>
            <a:ext cx="4872600" cy="356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Box 8"/>
          <p:cNvSpPr/>
          <p:nvPr/>
        </p:nvSpPr>
        <p:spPr>
          <a:xfrm>
            <a:off x="1371600" y="3520440"/>
            <a:ext cx="9417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References &amp; Resources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9"/>
          <p:cNvSpPr/>
          <p:nvPr/>
        </p:nvSpPr>
        <p:spPr>
          <a:xfrm>
            <a:off x="2286000" y="4023360"/>
            <a:ext cx="761580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GitHub Repository: github.com/ErsonAus/Capstone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Libraries: React, MUI, Express.js, Mongoose, Jest, Nodemailer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Database: MongoDB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Tools: Thunder Client, GitHub, Figma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  •  Research: Cybernews travel app privacy investigation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0"/>
          <p:cNvSpPr/>
          <p:nvPr/>
        </p:nvSpPr>
        <p:spPr>
          <a:xfrm>
            <a:off x="1371600" y="6309360"/>
            <a:ext cx="9417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890A8"/>
                </a:solidFill>
                <a:effectLst/>
                <a:uFillTx/>
                <a:latin typeface="Calibri"/>
              </a:rPr>
              <a:t>Erson Kice   |   Capstone Project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LibreOffice/26.2.2.2$Windows_X86_64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2026-04-26T15:27:44Z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